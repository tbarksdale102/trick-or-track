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  Program overview</a:t>
            </a:r>
          </a:p>
          <a:p>
            <a:r>
              <a:t>Spot missing coverage before it becomes a delivery gap.</a:t>
            </a:r>
          </a:p>
          <a:p>
            <a:r>
              <a:t>Requirement and Initiative coverage</a:t>
            </a:r>
          </a:p>
          <a:p>
            <a:r>
              <a:t>Unmapped Epics and architecture coverage</a:t>
            </a:r>
          </a:p>
          <a:p>
            <a:r>
              <a:t>Attention items and system registry</a:t>
            </a:r>
          </a:p>
          <a:p>
            <a:r>
              <a:t>Metrics shown belong to the built-in sample dataset.</a:t>
            </a:r>
          </a:p>
          <a:p>
            <a:r>
              <a:t>Screenshot captured from the actual local application, using sample data. No live Jira account was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 Requirements inventory</a:t>
            </a:r>
          </a:p>
          <a:p>
            <a:r>
              <a:t>Organize government RPMs and see their delivery relationships.</a:t>
            </a:r>
          </a:p>
          <a:p>
            <a:r>
              <a:t>Search by identifier or title</a:t>
            </a:r>
          </a:p>
          <a:p>
            <a:r>
              <a:t>Compare Requirement and Initiative links</a:t>
            </a:r>
          </a:p>
          <a:p>
            <a:r>
              <a:t>Open a requirement for delivery context</a:t>
            </a:r>
          </a:p>
          <a:p>
            <a:r>
              <a:t>RPMs are manually captured; automated document parsing is not implemented.</a:t>
            </a:r>
          </a:p>
          <a:p>
            <a:r>
              <a:t>Screenshot captured from the actual local application, using sample data. No live Jira account was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 Gather a requirement</a:t>
            </a:r>
          </a:p>
          <a:p>
            <a:r>
              <a:t>Capture the original requirement and preserve its source.</a:t>
            </a:r>
          </a:p>
          <a:p>
            <a:r>
              <a:t>Identifier, title, and revision</a:t>
            </a:r>
          </a:p>
          <a:p>
            <a:r>
              <a:t>Source document and section</a:t>
            </a:r>
          </a:p>
          <a:p>
            <a:r>
              <a:t>Original requirement text</a:t>
            </a:r>
          </a:p>
          <a:p>
            <a:r>
              <a:t>The screenshot shows a prepared example form; no new record was submitted.</a:t>
            </a:r>
          </a:p>
          <a:p>
            <a:r>
              <a:t>Screenshot captured from the actual local application, using sample data. No live Jira account was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  End-to-end traceability</a:t>
            </a:r>
          </a:p>
          <a:p>
            <a:r>
              <a:t>Follow an RPM through its Requirement, Initiative, and delivery Epics.</a:t>
            </a:r>
          </a:p>
          <a:p>
            <a:r>
              <a:t>Visual delivery chain</a:t>
            </a:r>
          </a:p>
          <a:p>
            <a:r>
              <a:t>Source text and reference</a:t>
            </a:r>
          </a:p>
          <a:p>
            <a:r>
              <a:t>Associated Epics and system context</a:t>
            </a:r>
          </a:p>
          <a:p>
            <a:r>
              <a:t>Relationships displayed here are sample workspace data.</a:t>
            </a:r>
          </a:p>
          <a:p>
            <a:r>
              <a:t>Screenshot captured from the actual local application, using sample data. No live Jira account was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  Coverage reconciliation</a:t>
            </a:r>
          </a:p>
          <a:p>
            <a:r>
              <a:t>Turn missing relationships into a reviewable worklist.</a:t>
            </a:r>
          </a:p>
          <a:p>
            <a:r>
              <a:t>Identify missing records</a:t>
            </a:r>
          </a:p>
          <a:p>
            <a:r>
              <a:t>Find unmapped Epics</a:t>
            </a:r>
          </a:p>
          <a:p>
            <a:r>
              <a:t>Flag missing or stale architecture</a:t>
            </a:r>
          </a:p>
          <a:p>
            <a:r>
              <a:t>Local coverage checks update the browser dataset; they do not create Jira issues.</a:t>
            </a:r>
          </a:p>
          <a:p>
            <a:r>
              <a:t>Screenshot captured from the actual local application, using sample data. No live Jira account was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  Review before correction</a:t>
            </a:r>
          </a:p>
          <a:p>
            <a:r>
              <a:t>Inspect a proposed change before applying it.</a:t>
            </a:r>
          </a:p>
          <a:p>
            <a:r>
              <a:t>Explain the proposed correction</a:t>
            </a:r>
          </a:p>
          <a:p>
            <a:r>
              <a:t>Review prerequisites before proceeding</a:t>
            </a:r>
          </a:p>
          <a:p>
            <a:r>
              <a:t>Apply changes to sample data</a:t>
            </a:r>
          </a:p>
          <a:p>
            <a:r>
              <a:t>This example creates a local sample Requirement for RPM-004.</a:t>
            </a:r>
          </a:p>
          <a:p>
            <a:r>
              <a:t>Screenshot captured from the actual local application, using sample data. No live Jira account was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  System architecture</a:t>
            </a:r>
          </a:p>
          <a:p>
            <a:r>
              <a:t>Generate component diagrams and connect them to system context.</a:t>
            </a:r>
          </a:p>
          <a:p>
            <a:r>
              <a:t>Component and data-flow view</a:t>
            </a:r>
          </a:p>
          <a:p>
            <a:r>
              <a:t>Sample repository evidence</a:t>
            </a:r>
          </a:p>
          <a:p>
            <a:r>
              <a:t>Mermaid source and .mmd download</a:t>
            </a:r>
          </a:p>
          <a:p>
            <a:r>
              <a:t>Generated from sample manifests; real repository scanning is not connected.</a:t>
            </a:r>
          </a:p>
          <a:p>
            <a:r>
              <a:t>Screenshot captured from the actual local application, using sample data. No live Jira account was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  Activity history</a:t>
            </a:r>
          </a:p>
          <a:p>
            <a:r>
              <a:t>Review the changes made within the local workspace.</a:t>
            </a:r>
          </a:p>
          <a:p>
            <a:r>
              <a:t>Local import and correction history</a:t>
            </a:r>
          </a:p>
          <a:p>
            <a:r>
              <a:t>Architecture generation events</a:t>
            </a:r>
          </a:p>
          <a:p>
            <a:r>
              <a:t>Timestamped workspace activity</a:t>
            </a:r>
          </a:p>
          <a:p>
            <a:r>
              <a:t>This is local history, not a centralized enterprise audit log.</a:t>
            </a:r>
          </a:p>
          <a:p>
            <a:r>
              <a:t>Screenshot captured from the actual local application, using sample data. No live Jira account was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  Jira integration</a:t>
            </a:r>
          </a:p>
          <a:p>
            <a:r>
              <a:t>Connect the requirements workflow to Jira Cloud or Data Center.</a:t>
            </a:r>
          </a:p>
          <a:p>
            <a:r>
              <a:t>Project or site-wide ticket imports</a:t>
            </a:r>
          </a:p>
          <a:p>
            <a:r>
              <a:t>Separate imported inventory</a:t>
            </a:r>
          </a:p>
          <a:p>
            <a:r>
              <a:t>Prepare and review ticket creation</a:t>
            </a:r>
          </a:p>
          <a:p>
            <a:r>
              <a:t>Screenshot shows the real connection UI. No live Jira import or write was performed.</a:t>
            </a:r>
          </a:p>
          <a:p>
            <a:r>
              <a:t>Screenshot captured from the actual local application, using sample data. No live Jira account was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 Implementation readiness</a:t>
            </a:r>
          </a:p>
          <a:p>
            <a:r>
              <a:t>See what is missing before handing a requirement to a coding agent.</a:t>
            </a:r>
          </a:p>
          <a:p>
            <a:r>
              <a:t>Source and delivery links</a:t>
            </a:r>
          </a:p>
          <a:p>
            <a:r>
              <a:t>Owner, criteria, and system context</a:t>
            </a:r>
          </a:p>
          <a:p>
            <a:r>
              <a:t>Scope must be recorded before export</a:t>
            </a:r>
          </a:p>
          <a:p>
            <a:r>
              <a:t>Existing saved requirements remain compatible. Readiness does not establish verification.</a:t>
            </a:r>
          </a:p>
          <a:p>
            <a:r>
              <a:t>Screenshot captured from the actual local application, using sample data. No live Jira account was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  Acceptance criteria and scope</a:t>
            </a:r>
          </a:p>
          <a:p>
            <a:r>
              <a:t>Record measurable outcomes and a responsible delivery owner.</a:t>
            </a:r>
          </a:p>
          <a:p>
            <a:r>
              <a:t>One acceptance criterion per line</a:t>
            </a:r>
          </a:p>
          <a:p>
            <a:r>
              <a:t>Save owner, scope, and system</a:t>
            </a:r>
          </a:p>
          <a:p>
            <a:r>
              <a:t>Optional constraints and repository paths</a:t>
            </a:r>
          </a:p>
          <a:p>
            <a:r>
              <a:t>Plans persist in browser storage. The screenshot shows an illustrative sample plan.</a:t>
            </a:r>
          </a:p>
          <a:p>
            <a:r>
              <a:t>Screenshot captured from the actual local application, using sample data. No live Jira account was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 Reviewed Trellis task export</a:t>
            </a:r>
          </a:p>
          <a:p>
            <a:r>
              <a:t>Inspect the task package before downloading it.</a:t>
            </a:r>
          </a:p>
          <a:p>
            <a:r>
              <a:t>PRD with source and acceptance criteria</a:t>
            </a:r>
          </a:p>
          <a:p>
            <a:r>
              <a:t>Task metadata and trace identifiers</a:t>
            </a:r>
          </a:p>
          <a:p>
            <a:r>
              <a:t>Implementation and check contexts</a:t>
            </a:r>
          </a:p>
          <a:p>
            <a:r>
              <a:t>ZIP extraction and Trellis context validation passed. No agents or Jira writes are triggered.</a:t>
            </a:r>
          </a:p>
          <a:p>
            <a:r>
              <a:t>Screenshot captured from the actual local application, using sample data. No live Jira account was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561D39"/>
                </a:solidFill>
                <a:latin typeface="Aptos"/>
              </a:defRPr>
            </a:pPr>
            <a:r>
              <a:t>Trick or Track ·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0242A"/>
                </a:solidFill>
                <a:latin typeface="Aptos"/>
              </a:defRPr>
            </a:pPr>
            <a:r>
              <a:t>Requirements gathering, implementation readiness, and reviewed Trellis task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61D39"/>
                </a:solidFill>
                <a:latin typeface="Aptos"/>
              </a:defRPr>
            </a:pPr>
            <a:r>
              <a:t>TRICK OR TRACK  •  SYSTEMS ENGINEERING  •  LOCAL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61D39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3703320" cy="44348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From requirement</a:t>
            </a:r>
          </a:p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to delivery.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Gather requirements.</a:t>
            </a:r>
          </a:p>
          <a:p>
            <a:pPr>
              <a:spcAft>
                <a:spcPts val="10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Reveal coverage gaps.</a:t>
            </a:r>
          </a:p>
          <a:p>
            <a:pPr>
              <a:spcAft>
                <a:spcPts val="10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Connect delivery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FFAB78"/>
                </a:solidFill>
                <a:latin typeface="Aptos"/>
              </a:defRPr>
            </a:pPr>
            <a:r>
              <a:t>Actual app screenshots • Sample workspace</a:t>
            </a:r>
          </a:p>
        </p:txBody>
      </p:sp>
      <p:pic>
        <p:nvPicPr>
          <p:cNvPr id="11" name="Picture 10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71600"/>
            <a:ext cx="6858000" cy="50006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561D39"/>
                </a:solidFill>
                <a:latin typeface="Aptos"/>
              </a:defRPr>
            </a:pPr>
            <a:r>
              <a:t>01  Program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0242A"/>
                </a:solidFill>
                <a:latin typeface="Aptos"/>
              </a:defRPr>
            </a:pPr>
            <a:r>
              <a:t>Spot missing coverage before it becomes a delivery gap.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61D39"/>
                </a:solidFill>
                <a:latin typeface="Aptos"/>
              </a:defRPr>
            </a:pPr>
            <a:r>
              <a:t>TRICK OR TRACK  •  SYSTEMS ENGINEERING  •  LOCAL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61D3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154680" cy="64008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561D39"/>
                </a:solidFill>
                <a:latin typeface="Aptos"/>
              </a:defRPr>
            </a:pPr>
            <a:r>
              <a:t>One view of program 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Requirement and Initiative coverage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Unmapped Epics and architecture coverage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Attention items and system registry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0242A"/>
                </a:solidFill>
                <a:latin typeface="Aptos"/>
              </a:defRPr>
            </a:pPr>
            <a:r>
              <a:t>Metrics shown belong to the built-in sample dataset.</a:t>
            </a:r>
          </a:p>
        </p:txBody>
      </p:sp>
      <p:pic>
        <p:nvPicPr>
          <p:cNvPr id="11" name="Picture 10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25880"/>
            <a:ext cx="694944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561D39"/>
                </a:solidFill>
                <a:latin typeface="Aptos"/>
              </a:defRPr>
            </a:pPr>
            <a:r>
              <a:t>02  Requirements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0242A"/>
                </a:solidFill>
                <a:latin typeface="Aptos"/>
              </a:defRPr>
            </a:pPr>
            <a:r>
              <a:t>Organize government RPMs and see their delivery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61D39"/>
                </a:solidFill>
                <a:latin typeface="Aptos"/>
              </a:defRPr>
            </a:pPr>
            <a:r>
              <a:t>TRICK OR TRACK  •  SYSTEMS ENGINEERING  •  LOCAL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61D3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154680" cy="64008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561D39"/>
                </a:solidFill>
                <a:latin typeface="Aptos"/>
              </a:defRPr>
            </a:pPr>
            <a:r>
              <a:t>Find the gaps quickly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Search by identifier or title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Compare Requirement and Initiative links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Open a requirement for delivery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0242A"/>
                </a:solidFill>
                <a:latin typeface="Aptos"/>
              </a:defRPr>
            </a:pPr>
            <a:r>
              <a:t>RPMs are manually captured; automated document parsing is not implemented.</a:t>
            </a:r>
          </a:p>
        </p:txBody>
      </p:sp>
      <p:pic>
        <p:nvPicPr>
          <p:cNvPr id="11" name="Picture 10" descr="requir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25880"/>
            <a:ext cx="694944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561D39"/>
                </a:solidFill>
                <a:latin typeface="Aptos"/>
              </a:defRPr>
            </a:pPr>
            <a:r>
              <a:t>03  Gather a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0242A"/>
                </a:solidFill>
                <a:latin typeface="Aptos"/>
              </a:defRPr>
            </a:pPr>
            <a:r>
              <a:t>Capture the original requirement and preserve its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61D39"/>
                </a:solidFill>
                <a:latin typeface="Aptos"/>
              </a:defRPr>
            </a:pPr>
            <a:r>
              <a:t>TRICK OR TRACK  •  SYSTEMS ENGINEERING  •  LOCAL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61D3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154680" cy="64008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561D39"/>
                </a:solidFill>
                <a:latin typeface="Aptos"/>
              </a:defRPr>
            </a:pPr>
            <a:r>
              <a:t>Keep source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Identifier, title, and revision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Source document and section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Original requirement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0242A"/>
                </a:solidFill>
                <a:latin typeface="Aptos"/>
              </a:defRPr>
            </a:pPr>
            <a:r>
              <a:t>The screenshot shows a prepared example form; no new record was submitted.</a:t>
            </a:r>
          </a:p>
        </p:txBody>
      </p:sp>
      <p:pic>
        <p:nvPicPr>
          <p:cNvPr id="11" name="Picture 10" descr="im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25880"/>
            <a:ext cx="694944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561D39"/>
                </a:solidFill>
                <a:latin typeface="Aptos"/>
              </a:defRPr>
            </a:pPr>
            <a:r>
              <a:t>04  End-to-end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0242A"/>
                </a:solidFill>
                <a:latin typeface="Aptos"/>
              </a:defRPr>
            </a:pPr>
            <a:r>
              <a:t>Follow an RPM through its Requirement, Initiative, and delivery Epics.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61D39"/>
                </a:solidFill>
                <a:latin typeface="Aptos"/>
              </a:defRPr>
            </a:pPr>
            <a:r>
              <a:t>TRICK OR TRACK  •  SYSTEMS ENGINEERING  •  LOCAL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61D3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154680" cy="64008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561D39"/>
                </a:solidFill>
                <a:latin typeface="Aptos"/>
              </a:defRPr>
            </a:pPr>
            <a:r>
              <a:t>Connect intent to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Visual delivery chain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Source text and reference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Associated Epics and system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0242A"/>
                </a:solidFill>
                <a:latin typeface="Aptos"/>
              </a:defRPr>
            </a:pPr>
            <a:r>
              <a:t>Relationships displayed here are sample workspace data.</a:t>
            </a:r>
          </a:p>
        </p:txBody>
      </p:sp>
      <p:pic>
        <p:nvPicPr>
          <p:cNvPr id="11" name="Picture 10" descr="trace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25880"/>
            <a:ext cx="694944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561D39"/>
                </a:solidFill>
                <a:latin typeface="Aptos"/>
              </a:defRPr>
            </a:pPr>
            <a:r>
              <a:t>05  Coverage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0242A"/>
                </a:solidFill>
                <a:latin typeface="Aptos"/>
              </a:defRPr>
            </a:pPr>
            <a:r>
              <a:t>Turn missing relationships into a reviewable worklist.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61D39"/>
                </a:solidFill>
                <a:latin typeface="Aptos"/>
              </a:defRPr>
            </a:pPr>
            <a:r>
              <a:t>TRICK OR TRACK  •  SYSTEMS ENGINEERING  •  LOCAL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61D39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154680" cy="64008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561D39"/>
                </a:solidFill>
                <a:latin typeface="Aptos"/>
              </a:defRPr>
            </a:pPr>
            <a:r>
              <a:t>Make gaps actionable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Identify missing records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Find unmapped Epics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Flag missing or stale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0242A"/>
                </a:solidFill>
                <a:latin typeface="Aptos"/>
              </a:defRPr>
            </a:pPr>
            <a:r>
              <a:t>Local coverage checks update the browser dataset; they do not create Jira issues.</a:t>
            </a:r>
          </a:p>
        </p:txBody>
      </p:sp>
      <p:pic>
        <p:nvPicPr>
          <p:cNvPr id="11" name="Picture 10" descr="reconcil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25880"/>
            <a:ext cx="694944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561D39"/>
                </a:solidFill>
                <a:latin typeface="Aptos"/>
              </a:defRPr>
            </a:pPr>
            <a:r>
              <a:t>06  Review before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0242A"/>
                </a:solidFill>
                <a:latin typeface="Aptos"/>
              </a:defRPr>
            </a:pPr>
            <a:r>
              <a:t>Inspect a proposed change before applying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61D39"/>
                </a:solidFill>
                <a:latin typeface="Aptos"/>
              </a:defRPr>
            </a:pPr>
            <a:r>
              <a:t>TRICK OR TRACK  •  SYSTEMS ENGINEERING  •  LOCAL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61D39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154680" cy="64008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561D39"/>
                </a:solidFill>
                <a:latin typeface="Aptos"/>
              </a:defRPr>
            </a:pPr>
            <a:r>
              <a:t>Keep the user in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Explain the proposed correction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Review prerequisites before proceeding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Apply changes to sample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0242A"/>
                </a:solidFill>
                <a:latin typeface="Aptos"/>
              </a:defRPr>
            </a:pPr>
            <a:r>
              <a:t>This example creates a local sample Requirement for RPM-004.</a:t>
            </a:r>
          </a:p>
        </p:txBody>
      </p:sp>
      <p:pic>
        <p:nvPicPr>
          <p:cNvPr id="11" name="Picture 10" descr="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25880"/>
            <a:ext cx="694944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561D39"/>
                </a:solidFill>
                <a:latin typeface="Aptos"/>
              </a:defRPr>
            </a:pPr>
            <a:r>
              <a:t>07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0242A"/>
                </a:solidFill>
                <a:latin typeface="Aptos"/>
              </a:defRPr>
            </a:pPr>
            <a:r>
              <a:t>Generate component diagrams and connect them to system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61D39"/>
                </a:solidFill>
                <a:latin typeface="Aptos"/>
              </a:defRPr>
            </a:pPr>
            <a:r>
              <a:t>TRICK OR TRACK  •  SYSTEMS ENGINEERING  •  LOCAL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61D39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154680" cy="64008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561D39"/>
                </a:solidFill>
                <a:latin typeface="Aptos"/>
              </a:defRPr>
            </a:pPr>
            <a:r>
              <a:t>Make system context visible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Component and data-flow view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Sample repository evidence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Mermaid source and .mmd download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0242A"/>
                </a:solidFill>
                <a:latin typeface="Aptos"/>
              </a:defRPr>
            </a:pPr>
            <a:r>
              <a:t>Generated from sample manifests; real repository scanning is not connected.</a:t>
            </a:r>
          </a:p>
        </p:txBody>
      </p:sp>
      <p:pic>
        <p:nvPicPr>
          <p:cNvPr id="11" name="Picture 10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25880"/>
            <a:ext cx="694944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561D39"/>
                </a:solidFill>
                <a:latin typeface="Aptos"/>
              </a:defRPr>
            </a:pPr>
            <a:r>
              <a:t>08  Activity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0242A"/>
                </a:solidFill>
                <a:latin typeface="Aptos"/>
              </a:defRPr>
            </a:pPr>
            <a:r>
              <a:t>Review the changes made within the local workspace.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61D39"/>
                </a:solidFill>
                <a:latin typeface="Aptos"/>
              </a:defRPr>
            </a:pPr>
            <a:r>
              <a:t>TRICK OR TRACK  •  SYSTEMS ENGINEERING  •  LOCAL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61D39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154680" cy="64008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561D39"/>
                </a:solidFill>
                <a:latin typeface="Aptos"/>
              </a:defRPr>
            </a:pPr>
            <a:r>
              <a:t>See what changed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Local import and correction history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Architecture generation events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Timestamped workspace activity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0242A"/>
                </a:solidFill>
                <a:latin typeface="Aptos"/>
              </a:defRPr>
            </a:pPr>
            <a:r>
              <a:t>This is local history, not a centralized enterprise audit log.</a:t>
            </a:r>
          </a:p>
        </p:txBody>
      </p:sp>
      <p:pic>
        <p:nvPicPr>
          <p:cNvPr id="11" name="Picture 10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25880"/>
            <a:ext cx="694944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561D39"/>
                </a:solidFill>
                <a:latin typeface="Aptos"/>
              </a:defRPr>
            </a:pPr>
            <a:r>
              <a:t>09  Jira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0242A"/>
                </a:solidFill>
                <a:latin typeface="Aptos"/>
              </a:defRPr>
            </a:pPr>
            <a:r>
              <a:t>Connect the requirements workflow to Jira Cloud or Data Center.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61D39"/>
                </a:solidFill>
                <a:latin typeface="Aptos"/>
              </a:defRPr>
            </a:pPr>
            <a:r>
              <a:t>TRICK OR TRACK  •  SYSTEMS ENGINEERING  •  LOCAL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61D3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154680" cy="64008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561D39"/>
                </a:solidFill>
                <a:latin typeface="Aptos"/>
              </a:defRPr>
            </a:pPr>
            <a:r>
              <a:t>Bring real tickets into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Project or site-wide ticket imports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Separate imported inventory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Prepare and review ticket creation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0242A"/>
                </a:solidFill>
                <a:latin typeface="Aptos"/>
              </a:defRPr>
            </a:pPr>
            <a:r>
              <a:t>Screenshot shows the real connection UI. No live Jira import or write was performed.</a:t>
            </a:r>
          </a:p>
        </p:txBody>
      </p:sp>
      <p:pic>
        <p:nvPicPr>
          <p:cNvPr id="11" name="Picture 10" descr="ji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25880"/>
            <a:ext cx="694944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561D39"/>
                </a:solidFill>
                <a:latin typeface="Aptos"/>
              </a:defRPr>
            </a:pPr>
            <a:r>
              <a:t>10  Implementation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0242A"/>
                </a:solidFill>
                <a:latin typeface="Aptos"/>
              </a:defRPr>
            </a:pPr>
            <a:r>
              <a:t>See what is missing before handing a requirement to a coding agent.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61D39"/>
                </a:solidFill>
                <a:latin typeface="Aptos"/>
              </a:defRPr>
            </a:pPr>
            <a:r>
              <a:t>TRICK OR TRACK  •  SYSTEMS ENGINEERING  •  LOCAL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61D3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154680" cy="64008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561D39"/>
                </a:solidFill>
                <a:latin typeface="Aptos"/>
              </a:defRPr>
            </a:pPr>
            <a:r>
              <a:t>A clear planning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Source and delivery links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Owner, criteria, and system context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Scope must be recorded before export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0242A"/>
                </a:solidFill>
                <a:latin typeface="Aptos"/>
              </a:defRPr>
            </a:pPr>
            <a:r>
              <a:t>Existing saved requirements remain compatible. Readiness does not establish verification.</a:t>
            </a:r>
          </a:p>
        </p:txBody>
      </p:sp>
      <p:pic>
        <p:nvPicPr>
          <p:cNvPr id="11" name="Picture 10" descr="readiness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25880"/>
            <a:ext cx="694944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561D39"/>
                </a:solidFill>
                <a:latin typeface="Aptos"/>
              </a:defRPr>
            </a:pPr>
            <a:r>
              <a:t>11  Acceptance criteria and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0242A"/>
                </a:solidFill>
                <a:latin typeface="Aptos"/>
              </a:defRPr>
            </a:pPr>
            <a:r>
              <a:t>Record measurable outcomes and a responsible delivery owner.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61D39"/>
                </a:solidFill>
                <a:latin typeface="Aptos"/>
              </a:defRPr>
            </a:pPr>
            <a:r>
              <a:t>TRICK OR TRACK  •  SYSTEMS ENGINEERING  •  LOCAL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61D3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154680" cy="64008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561D39"/>
                </a:solidFill>
                <a:latin typeface="Aptos"/>
              </a:defRPr>
            </a:pPr>
            <a:r>
              <a:t>Prepare a useful handoff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One acceptance criterion per line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Save owner, scope, and system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Optional constraints and repository paths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0242A"/>
                </a:solidFill>
                <a:latin typeface="Aptos"/>
              </a:defRPr>
            </a:pPr>
            <a:r>
              <a:t>Plans persist in browser storage. The screenshot shows an illustrative sample plan.</a:t>
            </a:r>
          </a:p>
        </p:txBody>
      </p:sp>
      <p:pic>
        <p:nvPicPr>
          <p:cNvPr id="11" name="Picture 10" descr="readiness-rea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25880"/>
            <a:ext cx="694944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561D39"/>
                </a:solidFill>
                <a:latin typeface="Aptos"/>
              </a:defRPr>
            </a:pPr>
            <a:r>
              <a:t>12  Reviewed Trellis task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0242A"/>
                </a:solidFill>
                <a:latin typeface="Aptos"/>
              </a:defRPr>
            </a:pPr>
            <a:r>
              <a:t>Inspect the task package before downloading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61D39"/>
                </a:solidFill>
                <a:latin typeface="Aptos"/>
              </a:defRPr>
            </a:pPr>
            <a:r>
              <a:t>TRICK OR TRACK  •  SYSTEMS ENGINEERING  •  LOCAL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61D39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154680" cy="64008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561D39"/>
                </a:solidFill>
                <a:latin typeface="Aptos"/>
              </a:defRPr>
            </a:pPr>
            <a:r>
              <a:t>From requirement to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PRD with source and acceptance criteria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Task metadata and trace identifiers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Implementation and check contexts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0242A"/>
                </a:solidFill>
                <a:latin typeface="Aptos"/>
              </a:defRPr>
            </a:pPr>
            <a:r>
              <a:t>ZIP extraction and Trellis context validation passed. No agents or Jira writes are triggered.</a:t>
            </a:r>
          </a:p>
        </p:txBody>
      </p:sp>
      <p:pic>
        <p:nvPicPr>
          <p:cNvPr id="11" name="Picture 10" descr="export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25880"/>
            <a:ext cx="694944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561D39"/>
                </a:solidFill>
                <a:latin typeface="Aptos"/>
              </a:defRPr>
            </a:pPr>
            <a:r>
              <a:t>Prototype capabilities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0242A"/>
                </a:solidFill>
                <a:latin typeface="Aptos"/>
              </a:defRPr>
            </a:pPr>
            <a:r>
              <a:t>A working local prototype, with clear boundaries for real-world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61D39"/>
                </a:solidFill>
                <a:latin typeface="Aptos"/>
              </a:defRPr>
            </a:pPr>
            <a:r>
              <a:t>TRICK OR TRACK  •  SYSTEMS ENGINEERING  •  LOCAL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61D39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3520440" cy="73152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78308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561D39"/>
                </a:solidFill>
                <a:latin typeface="Aptos"/>
              </a:defRPr>
            </a:pPr>
            <a:r>
              <a:t>WORKS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60320"/>
            <a:ext cx="3520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Sample requirements and traceability</a:t>
            </a:r>
          </a:p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Coverage review and corrections</a:t>
            </a:r>
          </a:p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Sample architecture generation</a:t>
            </a:r>
          </a:p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Readiness and task ZIP export</a:t>
            </a:r>
          </a:p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23 automated tests passing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463040"/>
            <a:ext cx="3520440" cy="73152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78308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561D39"/>
                </a:solidFill>
                <a:latin typeface="Aptos"/>
              </a:defRPr>
            </a:pPr>
            <a:r>
              <a:t>NEEDS YOUR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560320"/>
            <a:ext cx="3520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Live Jira site and credentials</a:t>
            </a:r>
          </a:p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Project and issue-type mappings</a:t>
            </a:r>
          </a:p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Explicit review for ticket creation</a:t>
            </a:r>
          </a:p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Network access to your Jira site</a:t>
            </a:r>
          </a:p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Windows for encrypted daily refresh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463040"/>
            <a:ext cx="3520440" cy="73152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8308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561D39"/>
                </a:solidFill>
                <a:latin typeface="Aptos"/>
              </a:defRPr>
            </a:pPr>
            <a:r>
              <a:t>FUTURE EXTENSIONS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560320"/>
            <a:ext cx="3520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Real repository scanning</a:t>
            </a:r>
          </a:p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Government document parsing</a:t>
            </a:r>
          </a:p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Shared multi-user workspace</a:t>
            </a:r>
          </a:p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Production deployment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7607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61D39"/>
                </a:solidFill>
                <a:latin typeface="Aptos"/>
              </a:defRPr>
            </a:pPr>
            <a:r>
              <a:t>Run locally: Node.js 22+ → npm start → open 127.0.0.1:4173 on the same computer.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